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FFF99"/>
    <a:srgbClr val="C1E5F5"/>
    <a:srgbClr val="000000"/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7B0E3E-1A08-4A02-B133-B1C1B3C2CFD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39782B-26DC-4FFF-B5D3-69E71873E9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Business Understanding/Problem Definition</a:t>
          </a:r>
        </a:p>
      </dgm:t>
    </dgm:pt>
    <dgm:pt modelId="{9777C87B-68B4-496F-896F-BFAC85E595BC}" type="parTrans" cxnId="{9C9FE6F8-579B-41A9-BF6A-A590BB792144}">
      <dgm:prSet/>
      <dgm:spPr/>
      <dgm:t>
        <a:bodyPr/>
        <a:lstStyle/>
        <a:p>
          <a:endParaRPr lang="en-US"/>
        </a:p>
      </dgm:t>
    </dgm:pt>
    <dgm:pt modelId="{614071C9-D072-4A5B-9346-CEE7ADEFE96D}" type="sibTrans" cxnId="{9C9FE6F8-579B-41A9-BF6A-A590BB792144}">
      <dgm:prSet/>
      <dgm:spPr/>
      <dgm:t>
        <a:bodyPr/>
        <a:lstStyle/>
        <a:p>
          <a:endParaRPr lang="en-US"/>
        </a:p>
      </dgm:t>
    </dgm:pt>
    <dgm:pt modelId="{0C87DBB8-22C6-460F-8BD3-7E726DC26F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Acquisition and Exploration</a:t>
          </a:r>
        </a:p>
      </dgm:t>
    </dgm:pt>
    <dgm:pt modelId="{FFF76000-12E3-45A3-9BB5-80104E3EDC60}" type="parTrans" cxnId="{16CAF006-CAA7-4540-AFF4-FB2C73AE878D}">
      <dgm:prSet/>
      <dgm:spPr/>
      <dgm:t>
        <a:bodyPr/>
        <a:lstStyle/>
        <a:p>
          <a:endParaRPr lang="en-US"/>
        </a:p>
      </dgm:t>
    </dgm:pt>
    <dgm:pt modelId="{0445E516-3046-478E-BF27-2AFA8AAB4869}" type="sibTrans" cxnId="{16CAF006-CAA7-4540-AFF4-FB2C73AE878D}">
      <dgm:prSet/>
      <dgm:spPr/>
      <dgm:t>
        <a:bodyPr/>
        <a:lstStyle/>
        <a:p>
          <a:endParaRPr lang="en-US"/>
        </a:p>
      </dgm:t>
    </dgm:pt>
    <dgm:pt modelId="{E53957C3-A911-4120-B553-48DBC302FE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Preparation</a:t>
          </a:r>
        </a:p>
      </dgm:t>
    </dgm:pt>
    <dgm:pt modelId="{CE40829F-9DEB-4334-B9BE-42679C461FFA}" type="parTrans" cxnId="{0FD49050-6974-438F-B049-3448637DC728}">
      <dgm:prSet/>
      <dgm:spPr/>
      <dgm:t>
        <a:bodyPr/>
        <a:lstStyle/>
        <a:p>
          <a:endParaRPr lang="en-US"/>
        </a:p>
      </dgm:t>
    </dgm:pt>
    <dgm:pt modelId="{32D00553-B2B4-4AC6-8B4E-2A3D7DFA823D}" type="sibTrans" cxnId="{0FD49050-6974-438F-B049-3448637DC728}">
      <dgm:prSet/>
      <dgm:spPr/>
      <dgm:t>
        <a:bodyPr/>
        <a:lstStyle/>
        <a:p>
          <a:endParaRPr lang="en-US"/>
        </a:p>
      </dgm:t>
    </dgm:pt>
    <dgm:pt modelId="{ED91DD7F-AFAF-4055-ACC2-70CAFCC309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Modeling</a:t>
          </a:r>
        </a:p>
      </dgm:t>
    </dgm:pt>
    <dgm:pt modelId="{D0BD8FFA-A710-422C-8605-DB857757FAF8}" type="parTrans" cxnId="{FBC87703-CDA8-447C-AA5A-7490AF0796B4}">
      <dgm:prSet/>
      <dgm:spPr/>
      <dgm:t>
        <a:bodyPr/>
        <a:lstStyle/>
        <a:p>
          <a:endParaRPr lang="en-US"/>
        </a:p>
      </dgm:t>
    </dgm:pt>
    <dgm:pt modelId="{B7632B30-0375-4445-93C7-938C0B0CAA03}" type="sibTrans" cxnId="{FBC87703-CDA8-447C-AA5A-7490AF0796B4}">
      <dgm:prSet/>
      <dgm:spPr/>
      <dgm:t>
        <a:bodyPr/>
        <a:lstStyle/>
        <a:p>
          <a:endParaRPr lang="en-US"/>
        </a:p>
      </dgm:t>
    </dgm:pt>
    <dgm:pt modelId="{F1ABE064-A411-44AB-BE4C-A14A7F497F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Evaluation</a:t>
          </a:r>
        </a:p>
      </dgm:t>
    </dgm:pt>
    <dgm:pt modelId="{D03E67EA-6054-470C-9004-99DE1E909271}" type="parTrans" cxnId="{5794443D-4229-407B-8EA9-0000BA7BA333}">
      <dgm:prSet/>
      <dgm:spPr/>
      <dgm:t>
        <a:bodyPr/>
        <a:lstStyle/>
        <a:p>
          <a:endParaRPr lang="en-US"/>
        </a:p>
      </dgm:t>
    </dgm:pt>
    <dgm:pt modelId="{617A860F-2E72-4A78-A15F-6B5CA04D87F8}" type="sibTrans" cxnId="{5794443D-4229-407B-8EA9-0000BA7BA333}">
      <dgm:prSet/>
      <dgm:spPr/>
      <dgm:t>
        <a:bodyPr/>
        <a:lstStyle/>
        <a:p>
          <a:endParaRPr lang="en-US"/>
        </a:p>
      </dgm:t>
    </dgm:pt>
    <dgm:pt modelId="{100080A0-900D-480A-9329-308B5B704F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Deployment and Integration</a:t>
          </a:r>
        </a:p>
      </dgm:t>
    </dgm:pt>
    <dgm:pt modelId="{B806D0D3-C376-4E70-984E-BA01936A4581}" type="parTrans" cxnId="{BC0C1EF9-E5B7-441F-A6D3-286969765BB5}">
      <dgm:prSet/>
      <dgm:spPr/>
      <dgm:t>
        <a:bodyPr/>
        <a:lstStyle/>
        <a:p>
          <a:endParaRPr lang="en-US"/>
        </a:p>
      </dgm:t>
    </dgm:pt>
    <dgm:pt modelId="{E394A722-EBF4-4EFA-B5AE-8CD790BE8587}" type="sibTrans" cxnId="{BC0C1EF9-E5B7-441F-A6D3-286969765BB5}">
      <dgm:prSet/>
      <dgm:spPr/>
      <dgm:t>
        <a:bodyPr/>
        <a:lstStyle/>
        <a:p>
          <a:endParaRPr lang="en-US"/>
        </a:p>
      </dgm:t>
    </dgm:pt>
    <dgm:pt modelId="{E6847803-3B13-4001-90F8-671B5F8B1D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Monitoring and Improvement</a:t>
          </a:r>
        </a:p>
      </dgm:t>
    </dgm:pt>
    <dgm:pt modelId="{4F5C7C86-E7C1-46F6-B1FA-0DD4B61095CC}" type="parTrans" cxnId="{1213A94C-8AB2-4529-B7AB-E2FC6163DC8E}">
      <dgm:prSet/>
      <dgm:spPr/>
      <dgm:t>
        <a:bodyPr/>
        <a:lstStyle/>
        <a:p>
          <a:endParaRPr lang="en-US"/>
        </a:p>
      </dgm:t>
    </dgm:pt>
    <dgm:pt modelId="{B3031E40-C61B-4E8A-B967-FDDA467F7790}" type="sibTrans" cxnId="{1213A94C-8AB2-4529-B7AB-E2FC6163DC8E}">
      <dgm:prSet/>
      <dgm:spPr/>
      <dgm:t>
        <a:bodyPr/>
        <a:lstStyle/>
        <a:p>
          <a:endParaRPr lang="en-US"/>
        </a:p>
      </dgm:t>
    </dgm:pt>
    <dgm:pt modelId="{2220B4AE-BD5B-485D-8DCC-B86DBE86A58C}" type="pres">
      <dgm:prSet presAssocID="{817B0E3E-1A08-4A02-B133-B1C1B3C2CFD5}" presName="root" presStyleCnt="0">
        <dgm:presLayoutVars>
          <dgm:dir/>
          <dgm:resizeHandles val="exact"/>
        </dgm:presLayoutVars>
      </dgm:prSet>
      <dgm:spPr/>
    </dgm:pt>
    <dgm:pt modelId="{34807800-E34E-4FA2-BD8E-347CCCF92966}" type="pres">
      <dgm:prSet presAssocID="{3A39782B-26DC-4FFF-B5D3-69E71873E980}" presName="compNode" presStyleCnt="0"/>
      <dgm:spPr/>
    </dgm:pt>
    <dgm:pt modelId="{1E81202E-AF8F-4047-AD89-86BB6576F45A}" type="pres">
      <dgm:prSet presAssocID="{3A39782B-26DC-4FFF-B5D3-69E71873E980}" presName="bgRect" presStyleLbl="bgShp" presStyleIdx="0" presStyleCnt="7"/>
      <dgm:spPr/>
    </dgm:pt>
    <dgm:pt modelId="{DFC5B0BC-74F6-430C-864A-175F2A5F9300}" type="pres">
      <dgm:prSet presAssocID="{3A39782B-26DC-4FFF-B5D3-69E71873E980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A729B40-12D8-44D1-8735-C981D16A2A78}" type="pres">
      <dgm:prSet presAssocID="{3A39782B-26DC-4FFF-B5D3-69E71873E980}" presName="spaceRect" presStyleCnt="0"/>
      <dgm:spPr/>
    </dgm:pt>
    <dgm:pt modelId="{7D7CBF66-CC35-4180-B3C0-F67BD2E34F97}" type="pres">
      <dgm:prSet presAssocID="{3A39782B-26DC-4FFF-B5D3-69E71873E980}" presName="parTx" presStyleLbl="revTx" presStyleIdx="0" presStyleCnt="7">
        <dgm:presLayoutVars>
          <dgm:chMax val="0"/>
          <dgm:chPref val="0"/>
        </dgm:presLayoutVars>
      </dgm:prSet>
      <dgm:spPr/>
    </dgm:pt>
    <dgm:pt modelId="{D9E1E881-852F-4513-91DD-8C7ED5F997A3}" type="pres">
      <dgm:prSet presAssocID="{614071C9-D072-4A5B-9346-CEE7ADEFE96D}" presName="sibTrans" presStyleCnt="0"/>
      <dgm:spPr/>
    </dgm:pt>
    <dgm:pt modelId="{8F4E4BC0-FF1E-48A8-A508-C8B938DD1A60}" type="pres">
      <dgm:prSet presAssocID="{0C87DBB8-22C6-460F-8BD3-7E726DC26F5F}" presName="compNode" presStyleCnt="0"/>
      <dgm:spPr/>
    </dgm:pt>
    <dgm:pt modelId="{DC89DCDE-BA2E-4102-97CD-A557C0E3ADC3}" type="pres">
      <dgm:prSet presAssocID="{0C87DBB8-22C6-460F-8BD3-7E726DC26F5F}" presName="bgRect" presStyleLbl="bgShp" presStyleIdx="1" presStyleCnt="7"/>
      <dgm:spPr/>
    </dgm:pt>
    <dgm:pt modelId="{CD11F1D7-B314-4A73-B29C-18B4D4021753}" type="pres">
      <dgm:prSet presAssocID="{0C87DBB8-22C6-460F-8BD3-7E726DC26F5F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B277AEA-5498-4814-8FD3-8E02598A0CB3}" type="pres">
      <dgm:prSet presAssocID="{0C87DBB8-22C6-460F-8BD3-7E726DC26F5F}" presName="spaceRect" presStyleCnt="0"/>
      <dgm:spPr/>
    </dgm:pt>
    <dgm:pt modelId="{B275959A-9C0B-4DAF-91C5-2C2079EAB392}" type="pres">
      <dgm:prSet presAssocID="{0C87DBB8-22C6-460F-8BD3-7E726DC26F5F}" presName="parTx" presStyleLbl="revTx" presStyleIdx="1" presStyleCnt="7">
        <dgm:presLayoutVars>
          <dgm:chMax val="0"/>
          <dgm:chPref val="0"/>
        </dgm:presLayoutVars>
      </dgm:prSet>
      <dgm:spPr/>
    </dgm:pt>
    <dgm:pt modelId="{9F98FFFD-FBEF-4EE5-A083-96E98195635F}" type="pres">
      <dgm:prSet presAssocID="{0445E516-3046-478E-BF27-2AFA8AAB4869}" presName="sibTrans" presStyleCnt="0"/>
      <dgm:spPr/>
    </dgm:pt>
    <dgm:pt modelId="{6541ADFC-AAAC-4D19-B510-D7B6C5103C8E}" type="pres">
      <dgm:prSet presAssocID="{E53957C3-A911-4120-B553-48DBC302FE7F}" presName="compNode" presStyleCnt="0"/>
      <dgm:spPr/>
    </dgm:pt>
    <dgm:pt modelId="{F7EDBE83-EB51-4E72-A818-E538888A0038}" type="pres">
      <dgm:prSet presAssocID="{E53957C3-A911-4120-B553-48DBC302FE7F}" presName="bgRect" presStyleLbl="bgShp" presStyleIdx="2" presStyleCnt="7"/>
      <dgm:spPr/>
    </dgm:pt>
    <dgm:pt modelId="{241E280D-F6C8-40A0-B158-692A491229FB}" type="pres">
      <dgm:prSet presAssocID="{E53957C3-A911-4120-B553-48DBC302FE7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81D3CD7-108A-46AC-A2B4-E794C97FC33A}" type="pres">
      <dgm:prSet presAssocID="{E53957C3-A911-4120-B553-48DBC302FE7F}" presName="spaceRect" presStyleCnt="0"/>
      <dgm:spPr/>
    </dgm:pt>
    <dgm:pt modelId="{ED841FB3-E1CF-46A1-84B0-0C65796ED34F}" type="pres">
      <dgm:prSet presAssocID="{E53957C3-A911-4120-B553-48DBC302FE7F}" presName="parTx" presStyleLbl="revTx" presStyleIdx="2" presStyleCnt="7">
        <dgm:presLayoutVars>
          <dgm:chMax val="0"/>
          <dgm:chPref val="0"/>
        </dgm:presLayoutVars>
      </dgm:prSet>
      <dgm:spPr/>
    </dgm:pt>
    <dgm:pt modelId="{48E23B56-8792-4B75-8A72-66DBFF6C5046}" type="pres">
      <dgm:prSet presAssocID="{32D00553-B2B4-4AC6-8B4E-2A3D7DFA823D}" presName="sibTrans" presStyleCnt="0"/>
      <dgm:spPr/>
    </dgm:pt>
    <dgm:pt modelId="{7E66A079-07CF-435F-BC17-8AC25413F673}" type="pres">
      <dgm:prSet presAssocID="{ED91DD7F-AFAF-4055-ACC2-70CAFCC309EA}" presName="compNode" presStyleCnt="0"/>
      <dgm:spPr/>
    </dgm:pt>
    <dgm:pt modelId="{59844899-BCB4-4D1C-B442-4798B34D7FE1}" type="pres">
      <dgm:prSet presAssocID="{ED91DD7F-AFAF-4055-ACC2-70CAFCC309EA}" presName="bgRect" presStyleLbl="bgShp" presStyleIdx="3" presStyleCnt="7"/>
      <dgm:spPr/>
    </dgm:pt>
    <dgm:pt modelId="{9E7BEC6C-506B-4258-8D61-1E378314351C}" type="pres">
      <dgm:prSet presAssocID="{ED91DD7F-AFAF-4055-ACC2-70CAFCC309E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93C67DE-50B7-4BB9-A50A-2F888EE9C81A}" type="pres">
      <dgm:prSet presAssocID="{ED91DD7F-AFAF-4055-ACC2-70CAFCC309EA}" presName="spaceRect" presStyleCnt="0"/>
      <dgm:spPr/>
    </dgm:pt>
    <dgm:pt modelId="{0F9CA854-B9B6-44E4-B14A-FC1B877139EB}" type="pres">
      <dgm:prSet presAssocID="{ED91DD7F-AFAF-4055-ACC2-70CAFCC309EA}" presName="parTx" presStyleLbl="revTx" presStyleIdx="3" presStyleCnt="7">
        <dgm:presLayoutVars>
          <dgm:chMax val="0"/>
          <dgm:chPref val="0"/>
        </dgm:presLayoutVars>
      </dgm:prSet>
      <dgm:spPr/>
    </dgm:pt>
    <dgm:pt modelId="{62E3EB4B-6A2B-49F9-86D1-FF4DB83ED7DD}" type="pres">
      <dgm:prSet presAssocID="{B7632B30-0375-4445-93C7-938C0B0CAA03}" presName="sibTrans" presStyleCnt="0"/>
      <dgm:spPr/>
    </dgm:pt>
    <dgm:pt modelId="{3A9E6130-F48A-4784-AE36-0A7A98CE290E}" type="pres">
      <dgm:prSet presAssocID="{F1ABE064-A411-44AB-BE4C-A14A7F497F99}" presName="compNode" presStyleCnt="0"/>
      <dgm:spPr/>
    </dgm:pt>
    <dgm:pt modelId="{578270D9-3CF8-44F3-92C5-82970C517DAB}" type="pres">
      <dgm:prSet presAssocID="{F1ABE064-A411-44AB-BE4C-A14A7F497F99}" presName="bgRect" presStyleLbl="bgShp" presStyleIdx="4" presStyleCnt="7"/>
      <dgm:spPr/>
    </dgm:pt>
    <dgm:pt modelId="{889ADBC6-21BD-42C6-87E1-CC1379C8B666}" type="pres">
      <dgm:prSet presAssocID="{F1ABE064-A411-44AB-BE4C-A14A7F497F9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819AEDB-FFA8-4FFF-B49A-9A1CE0F2ACAB}" type="pres">
      <dgm:prSet presAssocID="{F1ABE064-A411-44AB-BE4C-A14A7F497F99}" presName="spaceRect" presStyleCnt="0"/>
      <dgm:spPr/>
    </dgm:pt>
    <dgm:pt modelId="{A4FA58DA-DD5B-4312-AAF2-DF991997025D}" type="pres">
      <dgm:prSet presAssocID="{F1ABE064-A411-44AB-BE4C-A14A7F497F99}" presName="parTx" presStyleLbl="revTx" presStyleIdx="4" presStyleCnt="7">
        <dgm:presLayoutVars>
          <dgm:chMax val="0"/>
          <dgm:chPref val="0"/>
        </dgm:presLayoutVars>
      </dgm:prSet>
      <dgm:spPr/>
    </dgm:pt>
    <dgm:pt modelId="{16990095-5E03-4E16-AC0A-7ADCF41DDE98}" type="pres">
      <dgm:prSet presAssocID="{617A860F-2E72-4A78-A15F-6B5CA04D87F8}" presName="sibTrans" presStyleCnt="0"/>
      <dgm:spPr/>
    </dgm:pt>
    <dgm:pt modelId="{4A94CD9E-EFB7-4ECF-B095-C81AEB7F26F4}" type="pres">
      <dgm:prSet presAssocID="{100080A0-900D-480A-9329-308B5B704F09}" presName="compNode" presStyleCnt="0"/>
      <dgm:spPr/>
    </dgm:pt>
    <dgm:pt modelId="{C8AADF9D-C941-4C5D-8774-70E7231A0B8C}" type="pres">
      <dgm:prSet presAssocID="{100080A0-900D-480A-9329-308B5B704F09}" presName="bgRect" presStyleLbl="bgShp" presStyleIdx="5" presStyleCnt="7"/>
      <dgm:spPr/>
    </dgm:pt>
    <dgm:pt modelId="{5EB835A2-2E45-4DF8-A85A-A087D8DB1F40}" type="pres">
      <dgm:prSet presAssocID="{100080A0-900D-480A-9329-308B5B704F0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E9EA3F2-9DFB-4F39-B5D1-6F18FF54B839}" type="pres">
      <dgm:prSet presAssocID="{100080A0-900D-480A-9329-308B5B704F09}" presName="spaceRect" presStyleCnt="0"/>
      <dgm:spPr/>
    </dgm:pt>
    <dgm:pt modelId="{D25D8C06-AC1E-434A-BA8F-E2324496E6DE}" type="pres">
      <dgm:prSet presAssocID="{100080A0-900D-480A-9329-308B5B704F09}" presName="parTx" presStyleLbl="revTx" presStyleIdx="5" presStyleCnt="7">
        <dgm:presLayoutVars>
          <dgm:chMax val="0"/>
          <dgm:chPref val="0"/>
        </dgm:presLayoutVars>
      </dgm:prSet>
      <dgm:spPr/>
    </dgm:pt>
    <dgm:pt modelId="{78BD6CD3-D198-425B-9EA6-56C1C687714F}" type="pres">
      <dgm:prSet presAssocID="{E394A722-EBF4-4EFA-B5AE-8CD790BE8587}" presName="sibTrans" presStyleCnt="0"/>
      <dgm:spPr/>
    </dgm:pt>
    <dgm:pt modelId="{BBF6A18F-62CA-4962-89E5-AAB1FCAA646D}" type="pres">
      <dgm:prSet presAssocID="{E6847803-3B13-4001-90F8-671B5F8B1DB1}" presName="compNode" presStyleCnt="0"/>
      <dgm:spPr/>
    </dgm:pt>
    <dgm:pt modelId="{323C5631-254C-42BC-A5CF-95DF63B17A89}" type="pres">
      <dgm:prSet presAssocID="{E6847803-3B13-4001-90F8-671B5F8B1DB1}" presName="bgRect" presStyleLbl="bgShp" presStyleIdx="6" presStyleCnt="7"/>
      <dgm:spPr/>
    </dgm:pt>
    <dgm:pt modelId="{F57E8690-BFF0-41A5-9524-31EEABE35F8C}" type="pres">
      <dgm:prSet presAssocID="{E6847803-3B13-4001-90F8-671B5F8B1DB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3C04A27-A205-44E7-BEE5-AC186B423DE5}" type="pres">
      <dgm:prSet presAssocID="{E6847803-3B13-4001-90F8-671B5F8B1DB1}" presName="spaceRect" presStyleCnt="0"/>
      <dgm:spPr/>
    </dgm:pt>
    <dgm:pt modelId="{B2E24303-9B7A-43A5-8484-2D9D91869BF7}" type="pres">
      <dgm:prSet presAssocID="{E6847803-3B13-4001-90F8-671B5F8B1DB1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BC87703-CDA8-447C-AA5A-7490AF0796B4}" srcId="{817B0E3E-1A08-4A02-B133-B1C1B3C2CFD5}" destId="{ED91DD7F-AFAF-4055-ACC2-70CAFCC309EA}" srcOrd="3" destOrd="0" parTransId="{D0BD8FFA-A710-422C-8605-DB857757FAF8}" sibTransId="{B7632B30-0375-4445-93C7-938C0B0CAA03}"/>
    <dgm:cxn modelId="{16CAF006-CAA7-4540-AFF4-FB2C73AE878D}" srcId="{817B0E3E-1A08-4A02-B133-B1C1B3C2CFD5}" destId="{0C87DBB8-22C6-460F-8BD3-7E726DC26F5F}" srcOrd="1" destOrd="0" parTransId="{FFF76000-12E3-45A3-9BB5-80104E3EDC60}" sibTransId="{0445E516-3046-478E-BF27-2AFA8AAB4869}"/>
    <dgm:cxn modelId="{98ABEE25-F0C7-4D82-ADB9-A3D8B9B77875}" type="presOf" srcId="{100080A0-900D-480A-9329-308B5B704F09}" destId="{D25D8C06-AC1E-434A-BA8F-E2324496E6DE}" srcOrd="0" destOrd="0" presId="urn:microsoft.com/office/officeart/2018/2/layout/IconVerticalSolidList"/>
    <dgm:cxn modelId="{5794443D-4229-407B-8EA9-0000BA7BA333}" srcId="{817B0E3E-1A08-4A02-B133-B1C1B3C2CFD5}" destId="{F1ABE064-A411-44AB-BE4C-A14A7F497F99}" srcOrd="4" destOrd="0" parTransId="{D03E67EA-6054-470C-9004-99DE1E909271}" sibTransId="{617A860F-2E72-4A78-A15F-6B5CA04D87F8}"/>
    <dgm:cxn modelId="{8FDFCC65-EA74-4CA6-85B7-FA28CECAA8DE}" type="presOf" srcId="{817B0E3E-1A08-4A02-B133-B1C1B3C2CFD5}" destId="{2220B4AE-BD5B-485D-8DCC-B86DBE86A58C}" srcOrd="0" destOrd="0" presId="urn:microsoft.com/office/officeart/2018/2/layout/IconVerticalSolidList"/>
    <dgm:cxn modelId="{1213A94C-8AB2-4529-B7AB-E2FC6163DC8E}" srcId="{817B0E3E-1A08-4A02-B133-B1C1B3C2CFD5}" destId="{E6847803-3B13-4001-90F8-671B5F8B1DB1}" srcOrd="6" destOrd="0" parTransId="{4F5C7C86-E7C1-46F6-B1FA-0DD4B61095CC}" sibTransId="{B3031E40-C61B-4E8A-B967-FDDA467F7790}"/>
    <dgm:cxn modelId="{0FD49050-6974-438F-B049-3448637DC728}" srcId="{817B0E3E-1A08-4A02-B133-B1C1B3C2CFD5}" destId="{E53957C3-A911-4120-B553-48DBC302FE7F}" srcOrd="2" destOrd="0" parTransId="{CE40829F-9DEB-4334-B9BE-42679C461FFA}" sibTransId="{32D00553-B2B4-4AC6-8B4E-2A3D7DFA823D}"/>
    <dgm:cxn modelId="{DD7EF759-0E8A-48E3-9430-CC56E44A72F1}" type="presOf" srcId="{ED91DD7F-AFAF-4055-ACC2-70CAFCC309EA}" destId="{0F9CA854-B9B6-44E4-B14A-FC1B877139EB}" srcOrd="0" destOrd="0" presId="urn:microsoft.com/office/officeart/2018/2/layout/IconVerticalSolidList"/>
    <dgm:cxn modelId="{AF03CDA7-70E1-4545-A4FE-86F36D3CC79C}" type="presOf" srcId="{0C87DBB8-22C6-460F-8BD3-7E726DC26F5F}" destId="{B275959A-9C0B-4DAF-91C5-2C2079EAB392}" srcOrd="0" destOrd="0" presId="urn:microsoft.com/office/officeart/2018/2/layout/IconVerticalSolidList"/>
    <dgm:cxn modelId="{97F97BB0-C76E-4F63-8BC5-19DA884CC5DC}" type="presOf" srcId="{3A39782B-26DC-4FFF-B5D3-69E71873E980}" destId="{7D7CBF66-CC35-4180-B3C0-F67BD2E34F97}" srcOrd="0" destOrd="0" presId="urn:microsoft.com/office/officeart/2018/2/layout/IconVerticalSolidList"/>
    <dgm:cxn modelId="{A29CCFD0-6BFD-4C1D-AC2C-23089DB2AFA3}" type="presOf" srcId="{F1ABE064-A411-44AB-BE4C-A14A7F497F99}" destId="{A4FA58DA-DD5B-4312-AAF2-DF991997025D}" srcOrd="0" destOrd="0" presId="urn:microsoft.com/office/officeart/2018/2/layout/IconVerticalSolidList"/>
    <dgm:cxn modelId="{30378AE9-8920-4345-8839-FB475F59AA0B}" type="presOf" srcId="{E53957C3-A911-4120-B553-48DBC302FE7F}" destId="{ED841FB3-E1CF-46A1-84B0-0C65796ED34F}" srcOrd="0" destOrd="0" presId="urn:microsoft.com/office/officeart/2018/2/layout/IconVerticalSolidList"/>
    <dgm:cxn modelId="{A4B972F6-F4E4-4881-B900-A60F3921F034}" type="presOf" srcId="{E6847803-3B13-4001-90F8-671B5F8B1DB1}" destId="{B2E24303-9B7A-43A5-8484-2D9D91869BF7}" srcOrd="0" destOrd="0" presId="urn:microsoft.com/office/officeart/2018/2/layout/IconVerticalSolidList"/>
    <dgm:cxn modelId="{9C9FE6F8-579B-41A9-BF6A-A590BB792144}" srcId="{817B0E3E-1A08-4A02-B133-B1C1B3C2CFD5}" destId="{3A39782B-26DC-4FFF-B5D3-69E71873E980}" srcOrd="0" destOrd="0" parTransId="{9777C87B-68B4-496F-896F-BFAC85E595BC}" sibTransId="{614071C9-D072-4A5B-9346-CEE7ADEFE96D}"/>
    <dgm:cxn modelId="{BC0C1EF9-E5B7-441F-A6D3-286969765BB5}" srcId="{817B0E3E-1A08-4A02-B133-B1C1B3C2CFD5}" destId="{100080A0-900D-480A-9329-308B5B704F09}" srcOrd="5" destOrd="0" parTransId="{B806D0D3-C376-4E70-984E-BA01936A4581}" sibTransId="{E394A722-EBF4-4EFA-B5AE-8CD790BE8587}"/>
    <dgm:cxn modelId="{1D71673C-B08D-4911-BCCC-080CA1823B02}" type="presParOf" srcId="{2220B4AE-BD5B-485D-8DCC-B86DBE86A58C}" destId="{34807800-E34E-4FA2-BD8E-347CCCF92966}" srcOrd="0" destOrd="0" presId="urn:microsoft.com/office/officeart/2018/2/layout/IconVerticalSolidList"/>
    <dgm:cxn modelId="{D50B8E9B-978B-48DD-8AFC-FB36C83D95BF}" type="presParOf" srcId="{34807800-E34E-4FA2-BD8E-347CCCF92966}" destId="{1E81202E-AF8F-4047-AD89-86BB6576F45A}" srcOrd="0" destOrd="0" presId="urn:microsoft.com/office/officeart/2018/2/layout/IconVerticalSolidList"/>
    <dgm:cxn modelId="{48BEAA33-D986-4813-9CD4-2535AE650B87}" type="presParOf" srcId="{34807800-E34E-4FA2-BD8E-347CCCF92966}" destId="{DFC5B0BC-74F6-430C-864A-175F2A5F9300}" srcOrd="1" destOrd="0" presId="urn:microsoft.com/office/officeart/2018/2/layout/IconVerticalSolidList"/>
    <dgm:cxn modelId="{92935B79-C30C-4968-9850-60A3F8EE687A}" type="presParOf" srcId="{34807800-E34E-4FA2-BD8E-347CCCF92966}" destId="{EA729B40-12D8-44D1-8735-C981D16A2A78}" srcOrd="2" destOrd="0" presId="urn:microsoft.com/office/officeart/2018/2/layout/IconVerticalSolidList"/>
    <dgm:cxn modelId="{13B173EC-39D5-47B4-B51D-3A8F83D4E8E4}" type="presParOf" srcId="{34807800-E34E-4FA2-BD8E-347CCCF92966}" destId="{7D7CBF66-CC35-4180-B3C0-F67BD2E34F97}" srcOrd="3" destOrd="0" presId="urn:microsoft.com/office/officeart/2018/2/layout/IconVerticalSolidList"/>
    <dgm:cxn modelId="{7A5435EE-5ABF-48AA-9A8A-44793259323E}" type="presParOf" srcId="{2220B4AE-BD5B-485D-8DCC-B86DBE86A58C}" destId="{D9E1E881-852F-4513-91DD-8C7ED5F997A3}" srcOrd="1" destOrd="0" presId="urn:microsoft.com/office/officeart/2018/2/layout/IconVerticalSolidList"/>
    <dgm:cxn modelId="{AF36C197-532E-44F1-98D5-9E13C9EC7A39}" type="presParOf" srcId="{2220B4AE-BD5B-485D-8DCC-B86DBE86A58C}" destId="{8F4E4BC0-FF1E-48A8-A508-C8B938DD1A60}" srcOrd="2" destOrd="0" presId="urn:microsoft.com/office/officeart/2018/2/layout/IconVerticalSolidList"/>
    <dgm:cxn modelId="{A3B33C9E-B550-4729-8546-A930E3D51CF9}" type="presParOf" srcId="{8F4E4BC0-FF1E-48A8-A508-C8B938DD1A60}" destId="{DC89DCDE-BA2E-4102-97CD-A557C0E3ADC3}" srcOrd="0" destOrd="0" presId="urn:microsoft.com/office/officeart/2018/2/layout/IconVerticalSolidList"/>
    <dgm:cxn modelId="{E4B8611C-72E1-4059-AAFD-6631C547F63F}" type="presParOf" srcId="{8F4E4BC0-FF1E-48A8-A508-C8B938DD1A60}" destId="{CD11F1D7-B314-4A73-B29C-18B4D4021753}" srcOrd="1" destOrd="0" presId="urn:microsoft.com/office/officeart/2018/2/layout/IconVerticalSolidList"/>
    <dgm:cxn modelId="{AA6F5BA6-BE83-44C2-8851-70818EEC6025}" type="presParOf" srcId="{8F4E4BC0-FF1E-48A8-A508-C8B938DD1A60}" destId="{0B277AEA-5498-4814-8FD3-8E02598A0CB3}" srcOrd="2" destOrd="0" presId="urn:microsoft.com/office/officeart/2018/2/layout/IconVerticalSolidList"/>
    <dgm:cxn modelId="{A164AFB1-4B71-49D2-A171-A130B8E34FC1}" type="presParOf" srcId="{8F4E4BC0-FF1E-48A8-A508-C8B938DD1A60}" destId="{B275959A-9C0B-4DAF-91C5-2C2079EAB392}" srcOrd="3" destOrd="0" presId="urn:microsoft.com/office/officeart/2018/2/layout/IconVerticalSolidList"/>
    <dgm:cxn modelId="{28EC3862-BDD8-40B8-8D66-3D1BD0A6F9FE}" type="presParOf" srcId="{2220B4AE-BD5B-485D-8DCC-B86DBE86A58C}" destId="{9F98FFFD-FBEF-4EE5-A083-96E98195635F}" srcOrd="3" destOrd="0" presId="urn:microsoft.com/office/officeart/2018/2/layout/IconVerticalSolidList"/>
    <dgm:cxn modelId="{02641A3B-B7C6-4AC9-BDC7-0C01A5BA0365}" type="presParOf" srcId="{2220B4AE-BD5B-485D-8DCC-B86DBE86A58C}" destId="{6541ADFC-AAAC-4D19-B510-D7B6C5103C8E}" srcOrd="4" destOrd="0" presId="urn:microsoft.com/office/officeart/2018/2/layout/IconVerticalSolidList"/>
    <dgm:cxn modelId="{43AB5827-52BE-4B47-A231-CA3B19A49F91}" type="presParOf" srcId="{6541ADFC-AAAC-4D19-B510-D7B6C5103C8E}" destId="{F7EDBE83-EB51-4E72-A818-E538888A0038}" srcOrd="0" destOrd="0" presId="urn:microsoft.com/office/officeart/2018/2/layout/IconVerticalSolidList"/>
    <dgm:cxn modelId="{40C9B9DE-E67C-40D6-84CD-27246C3A2728}" type="presParOf" srcId="{6541ADFC-AAAC-4D19-B510-D7B6C5103C8E}" destId="{241E280D-F6C8-40A0-B158-692A491229FB}" srcOrd="1" destOrd="0" presId="urn:microsoft.com/office/officeart/2018/2/layout/IconVerticalSolidList"/>
    <dgm:cxn modelId="{30816E9F-EC6C-4535-BE40-1A00A7B70E27}" type="presParOf" srcId="{6541ADFC-AAAC-4D19-B510-D7B6C5103C8E}" destId="{C81D3CD7-108A-46AC-A2B4-E794C97FC33A}" srcOrd="2" destOrd="0" presId="urn:microsoft.com/office/officeart/2018/2/layout/IconVerticalSolidList"/>
    <dgm:cxn modelId="{401F5442-ABC2-44C3-A7D4-45580F573C26}" type="presParOf" srcId="{6541ADFC-AAAC-4D19-B510-D7B6C5103C8E}" destId="{ED841FB3-E1CF-46A1-84B0-0C65796ED34F}" srcOrd="3" destOrd="0" presId="urn:microsoft.com/office/officeart/2018/2/layout/IconVerticalSolidList"/>
    <dgm:cxn modelId="{7F77D33B-12F6-4534-B305-BD692BBEF96E}" type="presParOf" srcId="{2220B4AE-BD5B-485D-8DCC-B86DBE86A58C}" destId="{48E23B56-8792-4B75-8A72-66DBFF6C5046}" srcOrd="5" destOrd="0" presId="urn:microsoft.com/office/officeart/2018/2/layout/IconVerticalSolidList"/>
    <dgm:cxn modelId="{8B4CB8EF-7282-4E64-9A0C-81D2F529B549}" type="presParOf" srcId="{2220B4AE-BD5B-485D-8DCC-B86DBE86A58C}" destId="{7E66A079-07CF-435F-BC17-8AC25413F673}" srcOrd="6" destOrd="0" presId="urn:microsoft.com/office/officeart/2018/2/layout/IconVerticalSolidList"/>
    <dgm:cxn modelId="{BE15F8C8-B59E-4E98-AC30-911F567A3BAC}" type="presParOf" srcId="{7E66A079-07CF-435F-BC17-8AC25413F673}" destId="{59844899-BCB4-4D1C-B442-4798B34D7FE1}" srcOrd="0" destOrd="0" presId="urn:microsoft.com/office/officeart/2018/2/layout/IconVerticalSolidList"/>
    <dgm:cxn modelId="{0470F421-009D-4F69-BC10-08CD394DE1F1}" type="presParOf" srcId="{7E66A079-07CF-435F-BC17-8AC25413F673}" destId="{9E7BEC6C-506B-4258-8D61-1E378314351C}" srcOrd="1" destOrd="0" presId="urn:microsoft.com/office/officeart/2018/2/layout/IconVerticalSolidList"/>
    <dgm:cxn modelId="{B6A57398-9306-4367-A3CF-A61CFC1BECF5}" type="presParOf" srcId="{7E66A079-07CF-435F-BC17-8AC25413F673}" destId="{193C67DE-50B7-4BB9-A50A-2F888EE9C81A}" srcOrd="2" destOrd="0" presId="urn:microsoft.com/office/officeart/2018/2/layout/IconVerticalSolidList"/>
    <dgm:cxn modelId="{E5DDF3C7-3AC4-499C-857E-B3206DC6EE5A}" type="presParOf" srcId="{7E66A079-07CF-435F-BC17-8AC25413F673}" destId="{0F9CA854-B9B6-44E4-B14A-FC1B877139EB}" srcOrd="3" destOrd="0" presId="urn:microsoft.com/office/officeart/2018/2/layout/IconVerticalSolidList"/>
    <dgm:cxn modelId="{A4845F0B-C60E-4173-A319-7EE03610441F}" type="presParOf" srcId="{2220B4AE-BD5B-485D-8DCC-B86DBE86A58C}" destId="{62E3EB4B-6A2B-49F9-86D1-FF4DB83ED7DD}" srcOrd="7" destOrd="0" presId="urn:microsoft.com/office/officeart/2018/2/layout/IconVerticalSolidList"/>
    <dgm:cxn modelId="{A2773585-7A62-4D41-BBF7-95C803C9C809}" type="presParOf" srcId="{2220B4AE-BD5B-485D-8DCC-B86DBE86A58C}" destId="{3A9E6130-F48A-4784-AE36-0A7A98CE290E}" srcOrd="8" destOrd="0" presId="urn:microsoft.com/office/officeart/2018/2/layout/IconVerticalSolidList"/>
    <dgm:cxn modelId="{0460AE2E-9285-4421-8949-101CA74A2042}" type="presParOf" srcId="{3A9E6130-F48A-4784-AE36-0A7A98CE290E}" destId="{578270D9-3CF8-44F3-92C5-82970C517DAB}" srcOrd="0" destOrd="0" presId="urn:microsoft.com/office/officeart/2018/2/layout/IconVerticalSolidList"/>
    <dgm:cxn modelId="{D5405EEE-C2EC-4DA6-BB53-9E7E2D98C14E}" type="presParOf" srcId="{3A9E6130-F48A-4784-AE36-0A7A98CE290E}" destId="{889ADBC6-21BD-42C6-87E1-CC1379C8B666}" srcOrd="1" destOrd="0" presId="urn:microsoft.com/office/officeart/2018/2/layout/IconVerticalSolidList"/>
    <dgm:cxn modelId="{A964DE17-B474-48FE-84A4-645F8AB24951}" type="presParOf" srcId="{3A9E6130-F48A-4784-AE36-0A7A98CE290E}" destId="{5819AEDB-FFA8-4FFF-B49A-9A1CE0F2ACAB}" srcOrd="2" destOrd="0" presId="urn:microsoft.com/office/officeart/2018/2/layout/IconVerticalSolidList"/>
    <dgm:cxn modelId="{EE0985E7-C886-420C-8F2E-C376F8D3FC6E}" type="presParOf" srcId="{3A9E6130-F48A-4784-AE36-0A7A98CE290E}" destId="{A4FA58DA-DD5B-4312-AAF2-DF991997025D}" srcOrd="3" destOrd="0" presId="urn:microsoft.com/office/officeart/2018/2/layout/IconVerticalSolidList"/>
    <dgm:cxn modelId="{8521E982-C8FA-40CD-A272-C1AB8FEA7BDE}" type="presParOf" srcId="{2220B4AE-BD5B-485D-8DCC-B86DBE86A58C}" destId="{16990095-5E03-4E16-AC0A-7ADCF41DDE98}" srcOrd="9" destOrd="0" presId="urn:microsoft.com/office/officeart/2018/2/layout/IconVerticalSolidList"/>
    <dgm:cxn modelId="{41CF4698-B485-480D-B0BC-6249213B847D}" type="presParOf" srcId="{2220B4AE-BD5B-485D-8DCC-B86DBE86A58C}" destId="{4A94CD9E-EFB7-4ECF-B095-C81AEB7F26F4}" srcOrd="10" destOrd="0" presId="urn:microsoft.com/office/officeart/2018/2/layout/IconVerticalSolidList"/>
    <dgm:cxn modelId="{0E33E542-8902-46ED-9F99-7389F04B1B93}" type="presParOf" srcId="{4A94CD9E-EFB7-4ECF-B095-C81AEB7F26F4}" destId="{C8AADF9D-C941-4C5D-8774-70E7231A0B8C}" srcOrd="0" destOrd="0" presId="urn:microsoft.com/office/officeart/2018/2/layout/IconVerticalSolidList"/>
    <dgm:cxn modelId="{38906A8E-F9AA-4F41-93FA-6DBFB131DC2E}" type="presParOf" srcId="{4A94CD9E-EFB7-4ECF-B095-C81AEB7F26F4}" destId="{5EB835A2-2E45-4DF8-A85A-A087D8DB1F40}" srcOrd="1" destOrd="0" presId="urn:microsoft.com/office/officeart/2018/2/layout/IconVerticalSolidList"/>
    <dgm:cxn modelId="{6DF00DAE-955B-453E-BF8A-474DBF17FBAB}" type="presParOf" srcId="{4A94CD9E-EFB7-4ECF-B095-C81AEB7F26F4}" destId="{4E9EA3F2-9DFB-4F39-B5D1-6F18FF54B839}" srcOrd="2" destOrd="0" presId="urn:microsoft.com/office/officeart/2018/2/layout/IconVerticalSolidList"/>
    <dgm:cxn modelId="{C1B42C22-5B2F-4E2E-A1E2-C9108B496600}" type="presParOf" srcId="{4A94CD9E-EFB7-4ECF-B095-C81AEB7F26F4}" destId="{D25D8C06-AC1E-434A-BA8F-E2324496E6DE}" srcOrd="3" destOrd="0" presId="urn:microsoft.com/office/officeart/2018/2/layout/IconVerticalSolidList"/>
    <dgm:cxn modelId="{573CD26A-CAA8-4A05-AEE6-7887CF757BB1}" type="presParOf" srcId="{2220B4AE-BD5B-485D-8DCC-B86DBE86A58C}" destId="{78BD6CD3-D198-425B-9EA6-56C1C687714F}" srcOrd="11" destOrd="0" presId="urn:microsoft.com/office/officeart/2018/2/layout/IconVerticalSolidList"/>
    <dgm:cxn modelId="{59E10DC0-DC46-4DEF-B4A7-1492117F6F60}" type="presParOf" srcId="{2220B4AE-BD5B-485D-8DCC-B86DBE86A58C}" destId="{BBF6A18F-62CA-4962-89E5-AAB1FCAA646D}" srcOrd="12" destOrd="0" presId="urn:microsoft.com/office/officeart/2018/2/layout/IconVerticalSolidList"/>
    <dgm:cxn modelId="{C3E8CF3B-5AE0-44CB-B958-6C006B11546F}" type="presParOf" srcId="{BBF6A18F-62CA-4962-89E5-AAB1FCAA646D}" destId="{323C5631-254C-42BC-A5CF-95DF63B17A89}" srcOrd="0" destOrd="0" presId="urn:microsoft.com/office/officeart/2018/2/layout/IconVerticalSolidList"/>
    <dgm:cxn modelId="{DD4337B8-3214-40D8-9674-874D8A4C0D5B}" type="presParOf" srcId="{BBF6A18F-62CA-4962-89E5-AAB1FCAA646D}" destId="{F57E8690-BFF0-41A5-9524-31EEABE35F8C}" srcOrd="1" destOrd="0" presId="urn:microsoft.com/office/officeart/2018/2/layout/IconVerticalSolidList"/>
    <dgm:cxn modelId="{01282A74-024D-44C2-82A7-72F868AD494F}" type="presParOf" srcId="{BBF6A18F-62CA-4962-89E5-AAB1FCAA646D}" destId="{23C04A27-A205-44E7-BEE5-AC186B423DE5}" srcOrd="2" destOrd="0" presId="urn:microsoft.com/office/officeart/2018/2/layout/IconVerticalSolidList"/>
    <dgm:cxn modelId="{414EB012-565E-4409-8F0D-E437ABCDC5F8}" type="presParOf" srcId="{BBF6A18F-62CA-4962-89E5-AAB1FCAA646D}" destId="{B2E24303-9B7A-43A5-8484-2D9D91869BF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81202E-AF8F-4047-AD89-86BB6576F45A}">
      <dsp:nvSpPr>
        <dsp:cNvPr id="0" name=""/>
        <dsp:cNvSpPr/>
      </dsp:nvSpPr>
      <dsp:spPr>
        <a:xfrm>
          <a:off x="0" y="37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C5B0BC-74F6-430C-864A-175F2A5F9300}">
      <dsp:nvSpPr>
        <dsp:cNvPr id="0" name=""/>
        <dsp:cNvSpPr/>
      </dsp:nvSpPr>
      <dsp:spPr>
        <a:xfrm>
          <a:off x="154829" y="115534"/>
          <a:ext cx="281509" cy="281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CBF66-CC35-4180-B3C0-F67BD2E34F97}">
      <dsp:nvSpPr>
        <dsp:cNvPr id="0" name=""/>
        <dsp:cNvSpPr/>
      </dsp:nvSpPr>
      <dsp:spPr>
        <a:xfrm>
          <a:off x="591168" y="37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Business Understanding/Problem Definition</a:t>
          </a:r>
        </a:p>
      </dsp:txBody>
      <dsp:txXfrm>
        <a:off x="591168" y="371"/>
        <a:ext cx="9924431" cy="511834"/>
      </dsp:txXfrm>
    </dsp:sp>
    <dsp:sp modelId="{DC89DCDE-BA2E-4102-97CD-A557C0E3ADC3}">
      <dsp:nvSpPr>
        <dsp:cNvPr id="0" name=""/>
        <dsp:cNvSpPr/>
      </dsp:nvSpPr>
      <dsp:spPr>
        <a:xfrm>
          <a:off x="0" y="640165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1F1D7-B314-4A73-B29C-18B4D4021753}">
      <dsp:nvSpPr>
        <dsp:cNvPr id="0" name=""/>
        <dsp:cNvSpPr/>
      </dsp:nvSpPr>
      <dsp:spPr>
        <a:xfrm>
          <a:off x="154829" y="755327"/>
          <a:ext cx="281509" cy="281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75959A-9C0B-4DAF-91C5-2C2079EAB392}">
      <dsp:nvSpPr>
        <dsp:cNvPr id="0" name=""/>
        <dsp:cNvSpPr/>
      </dsp:nvSpPr>
      <dsp:spPr>
        <a:xfrm>
          <a:off x="591168" y="640165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Acquisition and Exploration</a:t>
          </a:r>
        </a:p>
      </dsp:txBody>
      <dsp:txXfrm>
        <a:off x="591168" y="640165"/>
        <a:ext cx="9924431" cy="511834"/>
      </dsp:txXfrm>
    </dsp:sp>
    <dsp:sp modelId="{F7EDBE83-EB51-4E72-A818-E538888A0038}">
      <dsp:nvSpPr>
        <dsp:cNvPr id="0" name=""/>
        <dsp:cNvSpPr/>
      </dsp:nvSpPr>
      <dsp:spPr>
        <a:xfrm>
          <a:off x="0" y="127995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E280D-F6C8-40A0-B158-692A491229FB}">
      <dsp:nvSpPr>
        <dsp:cNvPr id="0" name=""/>
        <dsp:cNvSpPr/>
      </dsp:nvSpPr>
      <dsp:spPr>
        <a:xfrm>
          <a:off x="154829" y="1395121"/>
          <a:ext cx="281509" cy="281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41FB3-E1CF-46A1-84B0-0C65796ED34F}">
      <dsp:nvSpPr>
        <dsp:cNvPr id="0" name=""/>
        <dsp:cNvSpPr/>
      </dsp:nvSpPr>
      <dsp:spPr>
        <a:xfrm>
          <a:off x="591168" y="127995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Preparation</a:t>
          </a:r>
        </a:p>
      </dsp:txBody>
      <dsp:txXfrm>
        <a:off x="591168" y="1279958"/>
        <a:ext cx="9924431" cy="511834"/>
      </dsp:txXfrm>
    </dsp:sp>
    <dsp:sp modelId="{59844899-BCB4-4D1C-B442-4798B34D7FE1}">
      <dsp:nvSpPr>
        <dsp:cNvPr id="0" name=""/>
        <dsp:cNvSpPr/>
      </dsp:nvSpPr>
      <dsp:spPr>
        <a:xfrm>
          <a:off x="0" y="191975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BEC6C-506B-4258-8D61-1E378314351C}">
      <dsp:nvSpPr>
        <dsp:cNvPr id="0" name=""/>
        <dsp:cNvSpPr/>
      </dsp:nvSpPr>
      <dsp:spPr>
        <a:xfrm>
          <a:off x="154829" y="2034914"/>
          <a:ext cx="281509" cy="281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CA854-B9B6-44E4-B14A-FC1B877139EB}">
      <dsp:nvSpPr>
        <dsp:cNvPr id="0" name=""/>
        <dsp:cNvSpPr/>
      </dsp:nvSpPr>
      <dsp:spPr>
        <a:xfrm>
          <a:off x="591168" y="191975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Modeling</a:t>
          </a:r>
        </a:p>
      </dsp:txBody>
      <dsp:txXfrm>
        <a:off x="591168" y="1919751"/>
        <a:ext cx="9924431" cy="511834"/>
      </dsp:txXfrm>
    </dsp:sp>
    <dsp:sp modelId="{578270D9-3CF8-44F3-92C5-82970C517DAB}">
      <dsp:nvSpPr>
        <dsp:cNvPr id="0" name=""/>
        <dsp:cNvSpPr/>
      </dsp:nvSpPr>
      <dsp:spPr>
        <a:xfrm>
          <a:off x="0" y="2559544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ADBC6-21BD-42C6-87E1-CC1379C8B666}">
      <dsp:nvSpPr>
        <dsp:cNvPr id="0" name=""/>
        <dsp:cNvSpPr/>
      </dsp:nvSpPr>
      <dsp:spPr>
        <a:xfrm>
          <a:off x="154829" y="2674707"/>
          <a:ext cx="281509" cy="281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FA58DA-DD5B-4312-AAF2-DF991997025D}">
      <dsp:nvSpPr>
        <dsp:cNvPr id="0" name=""/>
        <dsp:cNvSpPr/>
      </dsp:nvSpPr>
      <dsp:spPr>
        <a:xfrm>
          <a:off x="591168" y="2559544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Evaluation</a:t>
          </a:r>
        </a:p>
      </dsp:txBody>
      <dsp:txXfrm>
        <a:off x="591168" y="2559544"/>
        <a:ext cx="9924431" cy="511834"/>
      </dsp:txXfrm>
    </dsp:sp>
    <dsp:sp modelId="{C8AADF9D-C941-4C5D-8774-70E7231A0B8C}">
      <dsp:nvSpPr>
        <dsp:cNvPr id="0" name=""/>
        <dsp:cNvSpPr/>
      </dsp:nvSpPr>
      <dsp:spPr>
        <a:xfrm>
          <a:off x="0" y="3199338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835A2-2E45-4DF8-A85A-A087D8DB1F40}">
      <dsp:nvSpPr>
        <dsp:cNvPr id="0" name=""/>
        <dsp:cNvSpPr/>
      </dsp:nvSpPr>
      <dsp:spPr>
        <a:xfrm>
          <a:off x="154829" y="3314501"/>
          <a:ext cx="281509" cy="2815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D8C06-AC1E-434A-BA8F-E2324496E6DE}">
      <dsp:nvSpPr>
        <dsp:cNvPr id="0" name=""/>
        <dsp:cNvSpPr/>
      </dsp:nvSpPr>
      <dsp:spPr>
        <a:xfrm>
          <a:off x="591168" y="3199338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Deployment and Integration</a:t>
          </a:r>
        </a:p>
      </dsp:txBody>
      <dsp:txXfrm>
        <a:off x="591168" y="3199338"/>
        <a:ext cx="9924431" cy="511834"/>
      </dsp:txXfrm>
    </dsp:sp>
    <dsp:sp modelId="{323C5631-254C-42BC-A5CF-95DF63B17A89}">
      <dsp:nvSpPr>
        <dsp:cNvPr id="0" name=""/>
        <dsp:cNvSpPr/>
      </dsp:nvSpPr>
      <dsp:spPr>
        <a:xfrm>
          <a:off x="0" y="3839131"/>
          <a:ext cx="10515600" cy="51183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E8690-BFF0-41A5-9524-31EEABE35F8C}">
      <dsp:nvSpPr>
        <dsp:cNvPr id="0" name=""/>
        <dsp:cNvSpPr/>
      </dsp:nvSpPr>
      <dsp:spPr>
        <a:xfrm>
          <a:off x="154829" y="3954294"/>
          <a:ext cx="281509" cy="28150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E24303-9B7A-43A5-8484-2D9D91869BF7}">
      <dsp:nvSpPr>
        <dsp:cNvPr id="0" name=""/>
        <dsp:cNvSpPr/>
      </dsp:nvSpPr>
      <dsp:spPr>
        <a:xfrm>
          <a:off x="591168" y="3839131"/>
          <a:ext cx="9924431" cy="511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69" tIns="54169" rIns="54169" bIns="54169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Monitoring and Improvement</a:t>
          </a:r>
        </a:p>
      </dsp:txBody>
      <dsp:txXfrm>
        <a:off x="591168" y="3839131"/>
        <a:ext cx="9924431" cy="511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71D13-F789-4B1C-A601-A5F19A8A07A5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8C08DF-0CAC-41D6-B48C-1E5F279AB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2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AB156-9657-6B5F-CE0E-EBF71ADE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A85BF-BD7E-DB54-8C9F-53DECDAD9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7D0F2-2BB6-6E3D-1E08-B01ADF6F4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EDE3D-912C-8E98-7345-2A9F76DEE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55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90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1BEF-7A71-55A3-D5FA-2D0563C7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4D147B-992F-320A-72E0-21FE5A17B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35C0A-63B9-0171-2421-298F9D0B8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D616D-330A-9B0A-C4ED-8209C0C14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7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4A1C6-4C07-A9B5-4EED-1909490A9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5EB55-BC7D-8BD5-4C0A-F5490C01C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FD20B0-05ED-D47F-46C7-6FF4E253C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9C622-551B-BCBD-F40F-34700D6DF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0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70805-499A-4CDD-7DFE-6735FF88F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CCA0D-A199-F377-2453-1BAC4ED9EE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70303-1039-A02A-B313-7AFECB70D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ED610-9500-4251-8BB3-D36FEC99F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71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95A5C-2E90-0042-9E08-DDA0A2838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4E62B-DEF6-9FA8-4CF2-9BFA3ABF6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FFEFA3-A0BC-A285-3D3E-7304D1513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94715-B65A-5E74-07C0-91D62C766C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37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597D-01C5-F3D0-2E78-0E72E7EF1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C1454-91A4-2F1F-8A17-951CC8664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F2A04-10C5-CF24-8BAD-7F309F86A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76A4A-2196-93CD-9F8B-07AE14846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272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4B14F-780D-DE7D-1096-BA4CD100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64903-B169-23BA-CC3A-BED821FB8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72F81-649B-027E-4B0F-9FC3B95F5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06D53-0576-0AD1-CBCB-AAF74C47C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C08DF-0CAC-41D6-B48C-1E5F279ABFC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25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BD930-02C0-6FC8-31E8-145157869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8D81A8-E922-3174-171E-941A871E8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832BC-60A8-0EB3-85FE-F0A862BA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B4E5-399E-3124-972D-8D50DC8C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21C0B-B8BE-ED9F-376B-03D14391A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4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B3587-8071-9B92-34CF-6E24E375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7C5DB-8819-E2F8-337B-105E1D8CD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071A1-291E-9CF8-005F-7FB706CD2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7E33A-A18C-37B2-067C-E0695395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8633-C952-3B9C-C06F-DDD5549B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3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BB4A6-FF9D-63B4-97A5-83360AC5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9CFA5-B5E5-F068-34E4-6A0109641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9907-D695-8F97-A0BF-100FE9C4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03012-A096-837C-F70B-15CE4D67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D5E2-16BB-B2AF-C32F-9A026CC7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4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FD0E-D05E-3F6A-34A1-D0372ECB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56C36-FE72-15EB-BDB2-B3D6FE176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F9351-F87C-E00F-1BA4-6499DC4DF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D8322-9F12-BEE1-510A-81C5C5EB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5F9C1-1984-2289-52E8-FF151F66E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06467-729B-4511-B414-29F61B97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2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80D5-63CA-8B05-8F51-C5A85022F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0FB2C2-AC79-524F-C36E-E5631FBE5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F6396-03C7-914A-05DC-CB7F2F1A5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66B446-2B06-D0FA-AAA1-AA65E81B0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51C6C-A9F4-7462-2832-AA15D488F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E55F51-CB4B-C130-26D9-5B385FEC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27258C-463D-AB19-E0FC-83947AFA2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E4FD7-243D-A9E8-2A4C-E8F7AEBC1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51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1894-970C-6227-73BB-06534A88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CE125-1E19-7EA8-6AEA-F09CCE73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63070-5011-90F6-AB61-D91A5BCA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9AC8A7-EEAD-BA55-1546-22171760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5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E4E7B5-1C86-8176-9242-D19AC32C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A4F23-68B2-33C4-ECA5-5681431F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132F5-ED76-630E-8DFB-E651FA399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80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B674C-95E7-21BC-6782-DAAC4E3BE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6A830-D84E-B5A1-2C64-08EF73EED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A929DD-8DBB-4F0B-9C98-E270856D0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9FD5A-6DF5-BB91-C868-DB56BFAE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400AC-1C0D-BE18-5383-3A41FDEE7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E2B9B-E9C3-9D1D-E6D7-26FD508A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0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73B8D-3D1D-400E-4526-FCECA94A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C4BC3-FB3E-3E73-D0D0-61BCDBCAE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B1332A-476F-FCFA-9F5D-467322342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8B9FB-7233-3406-54EB-2F35E2C2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0632C-2EC6-E268-5ABC-2A83BBE8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7D352-8C53-88F6-C8AC-2D629874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4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3704-62ED-17DF-8C63-B55FF93F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8F53C-8116-6BBA-95A2-D82086A8F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9432-3A71-A565-EEBB-063FA8AE9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0F964-F554-0A9B-F42B-4C9A0FDAD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531C3-7568-34E3-2A4C-7F992267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3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BCE295-4750-A372-4EAA-A21BE0FE5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4CEBB-7795-1067-D111-99FB7CA70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A053C-D667-EF13-A984-635BDF7F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44B62-801A-2291-E794-B7E97461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B6B48-1843-D785-F6D7-BBBE0A6B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5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6FBDA-BE18-CF29-70DD-ED46AD46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0ED9E-5BB0-1FCC-D949-1A6BD4595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031B0-97BB-4C38-41D3-5FB35932D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ACF6EE-1CFF-420B-B4A6-0A0AD2A322EF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3DC5-BF8E-4239-E587-3969B26645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74B15-5754-0079-0E44-939891898B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22A78-0CA6-40B0-998D-8DD9A0CEA2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26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EA97D-A96C-64F8-6389-0E95ED043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610" y="3429000"/>
            <a:ext cx="5593772" cy="995363"/>
          </a:xfrm>
        </p:spPr>
        <p:txBody>
          <a:bodyPr>
            <a:normAutofit fontScale="90000"/>
          </a:bodyPr>
          <a:lstStyle/>
          <a:p>
            <a:r>
              <a:rPr lang="en-GB" sz="4450" dirty="0"/>
              <a:t>The life cycle of a data science project</a:t>
            </a:r>
            <a:endParaRPr lang="en-US" sz="44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D98A4BB-7DB6-E813-D129-1B456EE7C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0" y="0"/>
            <a:ext cx="48005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193C88-B6CF-F595-F7B5-67E79F881401}"/>
              </a:ext>
            </a:extLst>
          </p:cNvPr>
          <p:cNvSpPr txBox="1"/>
          <p:nvPr/>
        </p:nvSpPr>
        <p:spPr>
          <a:xfrm>
            <a:off x="997527" y="4549756"/>
            <a:ext cx="4966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Transforming raw data into actionable insights.</a:t>
            </a: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E5238-0F82-2CDF-8856-257CCDDF18C7}"/>
              </a:ext>
            </a:extLst>
          </p:cNvPr>
          <p:cNvSpPr txBox="1"/>
          <p:nvPr/>
        </p:nvSpPr>
        <p:spPr>
          <a:xfrm>
            <a:off x="997527" y="5937002"/>
            <a:ext cx="2940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Presenter - May Zin Tun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331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8FB06-EC28-AEAA-D9EA-515E6CDE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General steps of a data science project -</a:t>
            </a:r>
            <a:endParaRPr lang="en-US" sz="2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E1D910-7139-1C10-47FE-E85E16891B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3783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197D-C4B4-BB9F-91CB-3143F5864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1AB34FC2-5860-8615-98EB-C4C9D1664001}"/>
              </a:ext>
            </a:extLst>
          </p:cNvPr>
          <p:cNvSpPr/>
          <p:nvPr/>
        </p:nvSpPr>
        <p:spPr>
          <a:xfrm>
            <a:off x="838198" y="5746172"/>
            <a:ext cx="10758055" cy="638611"/>
          </a:xfrm>
          <a:prstGeom prst="flowChartProcess">
            <a:avLst/>
          </a:prstGeom>
          <a:solidFill>
            <a:srgbClr val="FFFF99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270D3D-8119-0D35-0BB6-4640474E415F}"/>
              </a:ext>
            </a:extLst>
          </p:cNvPr>
          <p:cNvSpPr/>
          <p:nvPr/>
        </p:nvSpPr>
        <p:spPr>
          <a:xfrm>
            <a:off x="838200" y="976742"/>
            <a:ext cx="10758055" cy="1091045"/>
          </a:xfrm>
          <a:prstGeom prst="roundRect">
            <a:avLst/>
          </a:prstGeom>
          <a:solidFill>
            <a:schemeClr val="accent1">
              <a:lumMod val="75000"/>
              <a:alpha val="10196"/>
            </a:schemeClr>
          </a:solidFill>
          <a:ln>
            <a:solidFill>
              <a:srgbClr val="042433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401CA0F-0842-08AA-1558-87D7D6E298E7}"/>
              </a:ext>
            </a:extLst>
          </p:cNvPr>
          <p:cNvSpPr/>
          <p:nvPr/>
        </p:nvSpPr>
        <p:spPr>
          <a:xfrm>
            <a:off x="838199" y="2276400"/>
            <a:ext cx="10758055" cy="1091045"/>
          </a:xfrm>
          <a:prstGeom prst="roundRect">
            <a:avLst/>
          </a:prstGeom>
          <a:solidFill>
            <a:schemeClr val="accent1">
              <a:lumMod val="75000"/>
              <a:alpha val="10196"/>
            </a:schemeClr>
          </a:solidFill>
          <a:ln>
            <a:solidFill>
              <a:srgbClr val="042433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813802-D9CF-E18B-20A8-42218DBA23AB}"/>
              </a:ext>
            </a:extLst>
          </p:cNvPr>
          <p:cNvSpPr/>
          <p:nvPr/>
        </p:nvSpPr>
        <p:spPr>
          <a:xfrm>
            <a:off x="838198" y="3576058"/>
            <a:ext cx="10758055" cy="1967056"/>
          </a:xfrm>
          <a:prstGeom prst="roundRect">
            <a:avLst/>
          </a:prstGeom>
          <a:solidFill>
            <a:schemeClr val="accent1">
              <a:lumMod val="75000"/>
              <a:alpha val="10196"/>
            </a:schemeClr>
          </a:solidFill>
          <a:ln>
            <a:solidFill>
              <a:srgbClr val="042433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831EDC-92AB-3916-97B0-95C1DCCD2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397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Business Understanding/Problem 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C97CB-C19D-27D1-A8A5-7515FF2D9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91775"/>
            <a:ext cx="10728613" cy="4351339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0000"/>
              </a:lnSpc>
              <a:buAutoNum type="arabicPeriod"/>
            </a:pPr>
            <a:r>
              <a:rPr lang="en-US" sz="1700" dirty="0">
                <a:latin typeface="Segoe UI" panose="020B0502040204020203" pitchFamily="34" charset="0"/>
                <a:cs typeface="Segoe UI" panose="020B0502040204020203" pitchFamily="34" charset="0"/>
              </a:rPr>
              <a:t>Identify the Business Objective - </a:t>
            </a:r>
            <a:r>
              <a:rPr lang="en-GB" sz="1700" dirty="0">
                <a:latin typeface="Segoe UI" panose="020B0502040204020203" pitchFamily="34" charset="0"/>
                <a:cs typeface="Segoe UI" panose="020B0502040204020203" pitchFamily="34" charset="0"/>
              </a:rPr>
              <a:t>What is the organization trying to achieve?                                               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7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                                    Example -&gt; Reduce customer churn by 10% in the next quarter.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700" dirty="0">
                <a:latin typeface="Segoe UI" panose="020B0502040204020203" pitchFamily="34" charset="0"/>
                <a:cs typeface="Segoe UI" panose="020B0502040204020203" pitchFamily="34" charset="0"/>
              </a:rPr>
              <a:t>2. Gather Background Information - </a:t>
            </a:r>
            <a:r>
              <a:rPr lang="en-GB" sz="1700" dirty="0">
                <a:latin typeface="Segoe UI" panose="020B0502040204020203" pitchFamily="34" charset="0"/>
                <a:cs typeface="Segoe UI" panose="020B0502040204020203" pitchFamily="34" charset="0"/>
              </a:rPr>
              <a:t>review previous reports, industry studies, or past projects.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7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                                    Not understanding the context leads to misinterpretation of the data and       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17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                                             results.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1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sz="1700" dirty="0">
                <a:latin typeface="Segoe UI" panose="020B0502040204020203" pitchFamily="34" charset="0"/>
                <a:cs typeface="Segoe UI" panose="020B0502040204020203" pitchFamily="34" charset="0"/>
              </a:rPr>
              <a:t>3. Define Clear Objectives and Scope - translating the business problem into a data science problem and clarify boundaries.</a:t>
            </a:r>
          </a:p>
          <a:p>
            <a:pPr marL="0" indent="0" fontAlgn="base">
              <a:buNone/>
            </a:pPr>
            <a:endParaRPr lang="en-GB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 fontAlgn="base">
              <a:buNone/>
            </a:pP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Data Science Problem: </a:t>
            </a:r>
            <a:r>
              <a:rPr lang="en-GB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Build a model to predict which customers are most likely to churn in the next quarter.</a:t>
            </a:r>
          </a:p>
          <a:p>
            <a:pPr marL="0" indent="0" fontAlgn="base">
              <a:buNone/>
            </a:pPr>
            <a:r>
              <a:rPr lang="en-GB" sz="1600" dirty="0">
                <a:latin typeface="Segoe UI" panose="020B0502040204020203" pitchFamily="34" charset="0"/>
                <a:cs typeface="Segoe UI" panose="020B0502040204020203" pitchFamily="34" charset="0"/>
              </a:rPr>
              <a:t>Scope: </a:t>
            </a:r>
            <a:r>
              <a:rPr lang="en-GB" sz="1600" i="1" dirty="0">
                <a:latin typeface="Segoe UI" panose="020B0502040204020203" pitchFamily="34" charset="0"/>
                <a:cs typeface="Segoe UI" panose="020B0502040204020203" pitchFamily="34" charset="0"/>
              </a:rPr>
              <a:t>Use past 2 years of customer data (transactions, support interactions, product usage). Exclude customers with less than 3 months of history (not enough signals).</a:t>
            </a:r>
            <a:endParaRPr lang="en-US" sz="16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Graphic 6" descr="Warning with solid fill">
            <a:extLst>
              <a:ext uri="{FF2B5EF4-FFF2-40B4-BE49-F238E27FC236}">
                <a16:creationId xmlns:a16="http://schemas.microsoft.com/office/drawing/2014/main" id="{1575862D-BEFE-C225-3B3D-75B3115D9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2604" y="5901293"/>
            <a:ext cx="293202" cy="2932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93E212-67F0-80FC-44D9-49F83209D32F}"/>
              </a:ext>
            </a:extLst>
          </p:cNvPr>
          <p:cNvSpPr txBox="1"/>
          <p:nvPr/>
        </p:nvSpPr>
        <p:spPr>
          <a:xfrm>
            <a:off x="1833995" y="5901293"/>
            <a:ext cx="97328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If the business problem isn’t clearly defined, the results might be end up scattered, misaligned.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042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ECF1E-C565-E433-4486-2EC683D1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3506-8834-BE1E-4958-5207ED6D5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307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Data Collection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F56331-F76C-EB99-D345-9FC83D7A79A7}"/>
              </a:ext>
            </a:extLst>
          </p:cNvPr>
          <p:cNvSpPr txBox="1"/>
          <p:nvPr/>
        </p:nvSpPr>
        <p:spPr>
          <a:xfrm>
            <a:off x="1844386" y="5766210"/>
            <a:ext cx="973281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Poor data collection can lead to inaccurate analysis and flawed outcomes.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D07931A-21CA-5417-8181-D1C998670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13446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Gather the data identified during problem definition.</a:t>
            </a:r>
          </a:p>
          <a:p>
            <a:endParaRPr lang="en-GB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Identify Data Sources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Internal: databases, ERP, transaction logs.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External: APIs, open datasets, surveys, web scraping.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2.     Ensure Data Quality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Check completeness, accuracy, consistency.</a:t>
            </a:r>
          </a:p>
          <a:p>
            <a:pPr marL="0" indent="0">
              <a:buNone/>
            </a:pP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3.     Document Metadata</a:t>
            </a:r>
          </a:p>
          <a:p>
            <a:pPr marL="0" indent="0">
              <a:buNone/>
            </a:pPr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- </a:t>
            </a: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Record source, ownership, frequency of updates.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Graphic 5" descr="Warning with solid fill">
            <a:extLst>
              <a:ext uri="{FF2B5EF4-FFF2-40B4-BE49-F238E27FC236}">
                <a16:creationId xmlns:a16="http://schemas.microsoft.com/office/drawing/2014/main" id="{6D4C1CE0-B773-6845-1773-482900CF0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3686" y="5780486"/>
            <a:ext cx="293202" cy="293202"/>
          </a:xfrm>
          <a:prstGeom prst="rect">
            <a:avLst/>
          </a:prstGeom>
        </p:spPr>
      </p:pic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DBED6CCC-87CE-82AE-5E18-8E71D4FCF7FD}"/>
              </a:ext>
            </a:extLst>
          </p:cNvPr>
          <p:cNvSpPr/>
          <p:nvPr/>
        </p:nvSpPr>
        <p:spPr>
          <a:xfrm>
            <a:off x="838198" y="5631871"/>
            <a:ext cx="10758055" cy="638611"/>
          </a:xfrm>
          <a:prstGeom prst="flowChartProcess">
            <a:avLst/>
          </a:prstGeom>
          <a:solidFill>
            <a:srgbClr val="FFFF99">
              <a:alpha val="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64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D783-64D5-2E03-0C1C-A820D4C12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493D-F8F5-8B96-CAA7-0A65EF13F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615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Exploratory Data Analysis (EDA)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1DA0419-9192-7C07-A6F1-0CE6745AD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78377"/>
            <a:ext cx="10515600" cy="5834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Understand the data before modelling.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Detect patterns, trends, and anomalies.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Validate assumptions.</a:t>
            </a:r>
          </a:p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Summarize the Data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- Descriptive statistics (mean, median, standard deviation).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- Distribution of variables.</a:t>
            </a:r>
          </a:p>
          <a:p>
            <a:pPr marL="342900" indent="-342900">
              <a:buAutoNum type="arabicPeriod" startAt="2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Visualize the Data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- Histograms, scatter plots, boxplots, correlation heatmaps.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- Spot outliers and relationships.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3.    Check Relationships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- Correlations between features.</a:t>
            </a:r>
          </a:p>
          <a:p>
            <a:pPr marL="342900" indent="-342900">
              <a:buAutoNum type="arabicPeriod" startAt="4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Generate Hypotheses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- Example: “High support call frequency may lead to higher churn.”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891ABB-6893-6CDD-2E87-E0C8DD0BB36F}"/>
              </a:ext>
            </a:extLst>
          </p:cNvPr>
          <p:cNvSpPr/>
          <p:nvPr/>
        </p:nvSpPr>
        <p:spPr>
          <a:xfrm>
            <a:off x="8052954" y="4831773"/>
            <a:ext cx="3657600" cy="1278082"/>
          </a:xfrm>
          <a:prstGeom prst="roundRect">
            <a:avLst/>
          </a:prstGeom>
          <a:solidFill>
            <a:srgbClr val="156082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and Python (Pandas, Matplotlib, Seaborn),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Excel,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BI or Tableau</a:t>
            </a:r>
            <a:endParaRPr lang="en-US" sz="1400" i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94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49C07-3EE3-5117-E0FE-2507174E1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798FF-6915-F6AE-55BC-A2FF6B15D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615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Data Preparation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46FBFFD-7DD9-7E8B-65F9-C6AD5EB95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78377"/>
            <a:ext cx="10515600" cy="5834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Transform raw data into clean, usable form for modeling.</a:t>
            </a:r>
          </a:p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Data Cleaning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Handle missing values.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Remove duplicates &amp; outliers.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Standardize formats (dates, currencies, units).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2.    Feature Engineering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Create new meaningful variables.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Encode categorical variables (one-hot, label encoding).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Scale/normalize numerical features.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3.    Data Transformation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Aggregate or filter data.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- Reduce dimensionality if needed (PCA, feature selection).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4.    Data Splitting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- Train set, validation set, test set.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- Sometimes also time-based splits for time series.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0A83C0-528A-6CEE-CF63-B9BBB9A395D9}"/>
              </a:ext>
            </a:extLst>
          </p:cNvPr>
          <p:cNvSpPr/>
          <p:nvPr/>
        </p:nvSpPr>
        <p:spPr>
          <a:xfrm>
            <a:off x="7107382" y="5569527"/>
            <a:ext cx="4734789" cy="1011903"/>
          </a:xfrm>
          <a:prstGeom prst="roundRect">
            <a:avLst/>
          </a:prstGeom>
          <a:solidFill>
            <a:srgbClr val="FFFF00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</a:rPr>
              <a:t>Balancing between removing noise and losing valuable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</a:rPr>
              <a:t>Maintaining reproducibility of preprocessing steps.</a:t>
            </a:r>
            <a:endParaRPr lang="en-US" sz="1400" i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249DFC-3AF6-0F18-0615-36EF80C580A9}"/>
              </a:ext>
            </a:extLst>
          </p:cNvPr>
          <p:cNvSpPr/>
          <p:nvPr/>
        </p:nvSpPr>
        <p:spPr>
          <a:xfrm>
            <a:off x="7107381" y="3795451"/>
            <a:ext cx="4734789" cy="1140231"/>
          </a:xfrm>
          <a:prstGeom prst="roundRect">
            <a:avLst/>
          </a:prstGeom>
          <a:solidFill>
            <a:srgbClr val="156082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and Python (Pandas, </a:t>
            </a:r>
            <a:r>
              <a:rPr lang="en-GB" sz="1400" i="1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Numpy</a:t>
            </a: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</a:t>
            </a:r>
            <a:endParaRPr lang="en-US" sz="1400" i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38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CBD3F-ABD2-78F5-65BA-7F6D6DA50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A98E4-F1F9-541B-DE61-70FA5B83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615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Modeling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6D3903-DCD5-7D3D-4C86-FB8469749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78377"/>
            <a:ext cx="10515600" cy="5834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Apply machine learning algorithms to learn patterns from prepared data.</a:t>
            </a:r>
          </a:p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Select Algorithms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Based on problem type (regression, classification, clustering, etc.).</a:t>
            </a:r>
          </a:p>
          <a:p>
            <a:pPr marL="342900" indent="-342900">
              <a:buAutoNum type="arabicPeriod" startAt="2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Train Models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- Use training dataset to fit models.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3.    Hyperparameter Tuning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Optimize parameters (e.g., learning rate, max depth, </a:t>
            </a:r>
            <a:r>
              <a:rPr lang="en-US" sz="1500" dirty="0" err="1">
                <a:latin typeface="Segoe UI" panose="020B0502040204020203" pitchFamily="34" charset="0"/>
                <a:cs typeface="Segoe UI" panose="020B0502040204020203" pitchFamily="34" charset="0"/>
              </a:rPr>
              <a:t>n_estimators</a:t>
            </a: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Techniques: Grid Search, Random Search, Bayesian Optimization.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4.    Cross-Validation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Evaluate models across multiple folds to avoid overfitting.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7CD165-0E14-A556-40C1-C97A8FD3D517}"/>
              </a:ext>
            </a:extLst>
          </p:cNvPr>
          <p:cNvSpPr/>
          <p:nvPr/>
        </p:nvSpPr>
        <p:spPr>
          <a:xfrm>
            <a:off x="7107382" y="5226627"/>
            <a:ext cx="4734789" cy="1354803"/>
          </a:xfrm>
          <a:prstGeom prst="roundRect">
            <a:avLst/>
          </a:prstGeom>
          <a:solidFill>
            <a:srgbClr val="FFFF00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</a:rPr>
              <a:t>Overfitting (model learns noise, not patterns).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</a:rPr>
              <a:t>Underfitting (model too simple for complexity).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</a:rPr>
              <a:t>Computational cost (training large models).</a:t>
            </a:r>
            <a:endParaRPr lang="en-US" sz="1400" i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E12A37-30F6-5DAC-14E4-4B9F0961F97E}"/>
              </a:ext>
            </a:extLst>
          </p:cNvPr>
          <p:cNvSpPr/>
          <p:nvPr/>
        </p:nvSpPr>
        <p:spPr>
          <a:xfrm>
            <a:off x="7107381" y="4208318"/>
            <a:ext cx="4734789" cy="852056"/>
          </a:xfrm>
          <a:prstGeom prst="roundRect">
            <a:avLst/>
          </a:prstGeom>
          <a:solidFill>
            <a:srgbClr val="156082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 and Python (Scikit-learn and TensorFlow)</a:t>
            </a:r>
          </a:p>
        </p:txBody>
      </p:sp>
    </p:spTree>
    <p:extLst>
      <p:ext uri="{BB962C8B-B14F-4D97-AF65-F5344CB8AC3E}">
        <p14:creationId xmlns:p14="http://schemas.microsoft.com/office/powerpoint/2010/main" val="3283123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1AD7-7D26-04C8-C890-43D0613C7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D0A97-F93A-907A-969C-A3DC3C64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615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Evaluation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0C99DCB-7DD6-13C5-C234-7D7122A9B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78377"/>
            <a:ext cx="10515600" cy="5834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r>
              <a:rPr lang="en-US" sz="1500" dirty="0">
                <a:latin typeface="Segoe UI" panose="020B0502040204020203" pitchFamily="34" charset="0"/>
                <a:cs typeface="Segoe UI" panose="020B0502040204020203" pitchFamily="34" charset="0"/>
              </a:rPr>
              <a:t>Assess model performance on unseen data.</a:t>
            </a:r>
          </a:p>
          <a:p>
            <a:pPr marL="0" indent="0">
              <a:buNone/>
            </a:pP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Select Evaluation Metrics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Classification: Accuracy, Precision, Recall, F1-score, ROC-AUC.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Regression: RMSE, MAE, R².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2.    Test on Holdout Data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- Use validation/test sets not seen during training.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- Check for overfitting vs. underfitting.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3.    Business Alignment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- Translate results into impact:</a:t>
            </a:r>
          </a:p>
          <a:p>
            <a:pPr marL="457200" lvl="1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“Model predicts 80% of likely churners → retention team can target them with offers.”</a:t>
            </a:r>
          </a:p>
          <a:p>
            <a:pPr marL="0" indent="0">
              <a:buNone/>
            </a:pPr>
            <a:endParaRPr lang="en-GB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FD200D-7724-6B55-13CF-995C01015FCA}"/>
              </a:ext>
            </a:extLst>
          </p:cNvPr>
          <p:cNvSpPr/>
          <p:nvPr/>
        </p:nvSpPr>
        <p:spPr>
          <a:xfrm>
            <a:off x="7107382" y="5444836"/>
            <a:ext cx="4734789" cy="1084639"/>
          </a:xfrm>
          <a:prstGeom prst="roundRect">
            <a:avLst/>
          </a:prstGeom>
          <a:solidFill>
            <a:srgbClr val="FFFF00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</a:rPr>
              <a:t>Choosing the wrong metric (e.g., accuracy in imbalanced churn data).</a:t>
            </a:r>
            <a:endParaRPr lang="en-US" sz="14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955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3C86A-A6E3-F53C-3FB1-E0E6348A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AF4A-CF97-84C4-26A7-D0A4807B3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615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Deployment and Monitoring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2F89B13-1F1C-A3A6-89B2-D31E452A1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78377"/>
            <a:ext cx="10515600" cy="58341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Put the trained and evaluated model into a production environment.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Ensure deployed models remain accurate, reliable, and aligned with business goals</a:t>
            </a:r>
            <a:endParaRPr lang="en-US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Choose Deployment Method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Batch vs. real-time predictions.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Examples: API endpoint, dashboard, embedded in application.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2.    Track Model Performance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Monitor metrics like accuracy, recall, F1-score over time.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Watch for data drift, concept drift and model drift 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(performance degradation).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E6BED7-8151-9AC8-2F37-66E1D81F01F6}"/>
              </a:ext>
            </a:extLst>
          </p:cNvPr>
          <p:cNvSpPr/>
          <p:nvPr/>
        </p:nvSpPr>
        <p:spPr>
          <a:xfrm>
            <a:off x="6826825" y="4914900"/>
            <a:ext cx="4734789" cy="1489883"/>
          </a:xfrm>
          <a:prstGeom prst="roundRect">
            <a:avLst/>
          </a:prstGeom>
          <a:solidFill>
            <a:srgbClr val="FFFF00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Data in production may differ from training data → </a:t>
            </a:r>
            <a:r>
              <a:rPr lang="en-GB" sz="1400" b="1" dirty="0">
                <a:solidFill>
                  <a:schemeClr val="tx1"/>
                </a:solidFill>
              </a:rPr>
              <a:t>data drift</a:t>
            </a:r>
            <a:r>
              <a:rPr lang="en-GB" sz="14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Scaling model for large volumes of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Data Security: Implementing measures to safeguard data against threats and vulnerabilities.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14529D-0FAD-6EE4-6947-2593707CA43C}"/>
              </a:ext>
            </a:extLst>
          </p:cNvPr>
          <p:cNvSpPr/>
          <p:nvPr/>
        </p:nvSpPr>
        <p:spPr>
          <a:xfrm>
            <a:off x="6826825" y="3428999"/>
            <a:ext cx="4734789" cy="1361209"/>
          </a:xfrm>
          <a:prstGeom prst="roundRect">
            <a:avLst/>
          </a:prstGeom>
          <a:solidFill>
            <a:srgbClr val="156082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5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Tools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Docker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MLFlow</a:t>
            </a:r>
            <a:endParaRPr lang="en-GB" sz="1400" i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Prefect, Airflow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i="1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EventlyAI</a:t>
            </a:r>
            <a:endParaRPr lang="en-GB" sz="1400" i="1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812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ECDF347-2D06-318F-91CF-21B9256DB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0CAA-A9B3-3C19-1186-BE2DB6CA5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615"/>
            <a:ext cx="10515600" cy="61003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Monitoring &amp; Maintenance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C5F68D7-BA8D-1E27-6DC9-E8D15D0F1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878377"/>
            <a:ext cx="10515600" cy="583414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Purpose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Ensure deployed models remain accurate, reliable, and aligned with business goals.</a:t>
            </a:r>
          </a:p>
          <a:p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Detect issues early and update models as needed.</a:t>
            </a:r>
          </a:p>
          <a:p>
            <a:pPr marL="0" indent="0">
              <a:buNone/>
            </a:pPr>
            <a:r>
              <a:rPr lang="en-GB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Key Steps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Track Model Performance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Monitor metrics like accuracy, recall, F1-score over time.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Watch for model drift (performance degradation).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2.     Monitor Data Quality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Ensure input data remains clean, consistent, and complete.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Detect data drift (statistical changes in input features).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3.    Update and Retrain Models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Incorporate new data to improve accuracy.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Adjust features or retrain if performance drops.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4.    Logging &amp; Alerts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Log predictions, errors, and system issues.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- Set alerts for anomalies or significant performance changes.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5.     Feedback Loop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- Gather user or stakeholder feedback.</a:t>
            </a:r>
          </a:p>
          <a:p>
            <a:pPr marL="0" indent="0">
              <a:buNone/>
            </a:pPr>
            <a:r>
              <a:rPr lang="en-GB" sz="1500" dirty="0">
                <a:latin typeface="Segoe UI" panose="020B0502040204020203" pitchFamily="34" charset="0"/>
                <a:cs typeface="Segoe UI" panose="020B0502040204020203" pitchFamily="34" charset="0"/>
              </a:rPr>
              <a:t>            - Use insights to refine the model or business processes.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388E01-E8E4-5DE1-A55B-D27BB07351DA}"/>
              </a:ext>
            </a:extLst>
          </p:cNvPr>
          <p:cNvSpPr/>
          <p:nvPr/>
        </p:nvSpPr>
        <p:spPr>
          <a:xfrm>
            <a:off x="7107382" y="5226627"/>
            <a:ext cx="4734789" cy="1354803"/>
          </a:xfrm>
          <a:prstGeom prst="roundRect">
            <a:avLst/>
          </a:prstGeom>
          <a:solidFill>
            <a:srgbClr val="FFFF00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Detecting drift before it significantly affects business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1"/>
                </a:solidFill>
              </a:rPr>
              <a:t>Maintaining reproducibility and version control for updated models.</a:t>
            </a:r>
            <a:endParaRPr lang="en-US" sz="14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05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5" name="Freeform: Shape 20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6" name="Freeform: Shape 205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4D647E-AE01-948F-C213-4C640D628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082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1684</TotalTime>
  <Words>1096</Words>
  <Application>Microsoft Office PowerPoint</Application>
  <PresentationFormat>Widescreen</PresentationFormat>
  <Paragraphs>164</Paragraphs>
  <Slides>11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Segoe UI</vt:lpstr>
      <vt:lpstr>Office Theme</vt:lpstr>
      <vt:lpstr>The life cycle of a data science project</vt:lpstr>
      <vt:lpstr>General steps of a data science project -</vt:lpstr>
      <vt:lpstr>Business Understanding/Problem Definition</vt:lpstr>
      <vt:lpstr>Data Collection</vt:lpstr>
      <vt:lpstr>Exploratory Data Analysis (EDA)</vt:lpstr>
      <vt:lpstr>Data Preparation</vt:lpstr>
      <vt:lpstr>Modeling</vt:lpstr>
      <vt:lpstr>Evaluation</vt:lpstr>
      <vt:lpstr>Deployment and Monitoring</vt:lpstr>
      <vt:lpstr>Monitoring &amp; Maintenance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 Tun (ext.)</dc:creator>
  <cp:lastModifiedBy>May Tun (ext.)</cp:lastModifiedBy>
  <cp:revision>32</cp:revision>
  <dcterms:created xsi:type="dcterms:W3CDTF">2025-08-23T14:00:21Z</dcterms:created>
  <dcterms:modified xsi:type="dcterms:W3CDTF">2025-08-28T01:52:05Z</dcterms:modified>
</cp:coreProperties>
</file>